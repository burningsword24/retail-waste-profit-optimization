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0" r:id="rId10"/>
    <p:sldId id="265" r:id="rId11"/>
    <p:sldId id="266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44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2E44"/>
                </a:solidFill>
                <a:latin typeface="Arial"/>
              </a:rPr>
              <a:t>Waste Distribution (Histogram)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A8A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0-5%</c:v>
                </c:pt>
                <c:pt idx="1">
                  <c:v>5-10%</c:v>
                </c:pt>
                <c:pt idx="2">
                  <c:v>10-15%</c:v>
                </c:pt>
                <c:pt idx="3">
                  <c:v>15-20%</c:v>
                </c:pt>
                <c:pt idx="4">
                  <c:v>20-30%</c:v>
                </c:pt>
                <c:pt idx="5">
                  <c:v>30-40%</c:v>
                </c:pt>
                <c:pt idx="6">
                  <c:v>40-60%</c:v>
                </c:pt>
                <c:pt idx="7">
                  <c:v>60-80%</c:v>
                </c:pt>
                <c:pt idx="8">
                  <c:v>80-100%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44000</c:v>
                </c:pt>
                <c:pt idx="1">
                  <c:v>15000</c:v>
                </c:pt>
                <c:pt idx="2">
                  <c:v>8000</c:v>
                </c:pt>
                <c:pt idx="3">
                  <c:v>5000</c:v>
                </c:pt>
                <c:pt idx="4">
                  <c:v>9000</c:v>
                </c:pt>
                <c:pt idx="5">
                  <c:v>4000</c:v>
                </c:pt>
                <c:pt idx="6">
                  <c:v>4000</c:v>
                </c:pt>
                <c:pt idx="7">
                  <c:v>3000</c:v>
                </c:pt>
                <c:pt idx="8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8-4429-8E16-02B990E7B2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E44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2E44"/>
                </a:solidFill>
                <a:latin typeface="Arial"/>
              </a:rPr>
              <a:t>Avg Waste % by Product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Waste %</c:v>
                </c:pt>
              </c:strCache>
            </c:strRef>
          </c:tx>
          <c:spPr>
            <a:solidFill>
              <a:srgbClr val="00A8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97-474B-BFE9-E6067BEA05A2}"/>
              </c:ext>
            </c:extLst>
          </c:dPt>
          <c:dPt>
            <c:idx val="1"/>
            <c:invertIfNegative val="0"/>
            <c:bubble3D val="0"/>
            <c:spPr>
              <a:solidFill>
                <a:srgbClr val="1A2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97-474B-BFE9-E6067BEA05A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B97-474B-BFE9-E6067BEA05A2}"/>
              </c:ext>
            </c:extLst>
          </c:dPt>
          <c:dPt>
            <c:idx val="3"/>
            <c:invertIfNegative val="0"/>
            <c:bubble3D val="0"/>
            <c:spPr>
              <a:solidFill>
                <a:srgbClr val="1A2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97-474B-BFE9-E6067BEA05A2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97-474B-BFE9-E6067BEA05A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B97-474B-BFE9-E6067BEA05A2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B97-474B-BFE9-E6067BEA05A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B97-474B-BFE9-E6067BEA05A2}"/>
              </c:ext>
            </c:extLst>
          </c:dPt>
          <c:dPt>
            <c:idx val="8"/>
            <c:invertIfNegative val="0"/>
            <c:bubble3D val="0"/>
            <c:spPr>
              <a:solidFill>
                <a:srgbClr val="1A2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B97-474B-BFE9-E6067BEA05A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B97-474B-BFE9-E6067BEA05A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E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Bakery</c:v>
                </c:pt>
                <c:pt idx="1">
                  <c:v>Meat</c:v>
                </c:pt>
                <c:pt idx="2">
                  <c:v>Dairy</c:v>
                </c:pt>
                <c:pt idx="3">
                  <c:v>Beverages</c:v>
                </c:pt>
                <c:pt idx="4">
                  <c:v>Pharma</c:v>
                </c:pt>
                <c:pt idx="5">
                  <c:v>Snacks</c:v>
                </c:pt>
                <c:pt idx="6">
                  <c:v>Ready-to-Eat</c:v>
                </c:pt>
                <c:pt idx="7">
                  <c:v>Frozen</c:v>
                </c:pt>
                <c:pt idx="8">
                  <c:v>Produce</c:v>
                </c:pt>
                <c:pt idx="9">
                  <c:v>Condiments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21</c:v>
                </c:pt>
                <c:pt idx="2">
                  <c:v>17</c:v>
                </c:pt>
                <c:pt idx="3">
                  <c:v>16</c:v>
                </c:pt>
                <c:pt idx="4">
                  <c:v>50</c:v>
                </c:pt>
                <c:pt idx="5">
                  <c:v>19</c:v>
                </c:pt>
                <c:pt idx="6">
                  <c:v>38</c:v>
                </c:pt>
                <c:pt idx="7">
                  <c:v>19</c:v>
                </c:pt>
                <c:pt idx="8">
                  <c:v>14</c:v>
                </c:pt>
                <c:pt idx="9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B97-474B-BFE9-E6067BEA05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74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2806-38C3-4AEC-14F3-C5428EBF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5BDA1-AF32-1329-BEA7-F819FA8DB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01E68-6DB2-9371-36B7-32D9DB24B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CA995-76DF-DB24-C1F7-A8F9AA6D3E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7C23-D948-91B2-56CE-24E5C781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67F4F-E19F-42BF-ACEE-9E7ACF5BD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0920A-32C1-8513-B53C-0F8EC8B3C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2DC13-E154-C27B-5842-B8489631E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0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7451E-C509-EAF3-0BC3-6E101182D0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50594" y="942559"/>
            <a:ext cx="4781550" cy="779780"/>
          </a:xfrm>
          <a:prstGeom prst="rect">
            <a:avLst/>
          </a:prstGeom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0A14903F-136E-9FE4-EBAE-234BD3A86C8C}"/>
              </a:ext>
            </a:extLst>
          </p:cNvPr>
          <p:cNvSpPr/>
          <p:nvPr/>
        </p:nvSpPr>
        <p:spPr>
          <a:xfrm>
            <a:off x="3246117" y="2489463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CaseCrew DataVista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Retail Analytics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23A4C77-929D-9493-D86D-719350E0E4F6}"/>
              </a:ext>
            </a:extLst>
          </p:cNvPr>
          <p:cNvSpPr/>
          <p:nvPr/>
        </p:nvSpPr>
        <p:spPr>
          <a:xfrm>
            <a:off x="3315489" y="19624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MBA DATA SCIENCE &amp; AI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2649442-39F9-5BD5-E322-5D8004126CA9}"/>
              </a:ext>
            </a:extLst>
          </p:cNvPr>
          <p:cNvSpPr/>
          <p:nvPr/>
        </p:nvSpPr>
        <p:spPr>
          <a:xfrm>
            <a:off x="3246120" y="2265417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984B1D-8F7E-5357-1967-26D25D840405}"/>
              </a:ext>
            </a:extLst>
          </p:cNvPr>
          <p:cNvSpPr/>
          <p:nvPr/>
        </p:nvSpPr>
        <p:spPr>
          <a:xfrm>
            <a:off x="1631850" y="2763783"/>
            <a:ext cx="5880295" cy="1207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Product-Level Waste and Profitability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EB55C-6856-E2A7-B85B-F364594784FA}"/>
              </a:ext>
            </a:extLst>
          </p:cNvPr>
          <p:cNvSpPr txBox="1"/>
          <p:nvPr/>
        </p:nvSpPr>
        <p:spPr>
          <a:xfrm>
            <a:off x="213563" y="3971071"/>
            <a:ext cx="885561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Data Sources: Census of India (2011)  |  RHS Five-Year Plans (1981–2012)  |  Tools: Python · Pandas · Seaborn · Scikit-learn · </a:t>
            </a:r>
            <a:r>
              <a:rPr lang="en-US" sz="1200" dirty="0" err="1">
                <a:solidFill>
                  <a:schemeClr val="tx2"/>
                </a:solidFill>
              </a:rPr>
              <a:t>Colab</a:t>
            </a:r>
            <a:r>
              <a:rPr lang="en-US" sz="1200" dirty="0">
                <a:solidFill>
                  <a:schemeClr val="tx2"/>
                </a:solidFill>
              </a:rPr>
              <a:t> · Canva · Claude</a:t>
            </a:r>
          </a:p>
          <a:p>
            <a:r>
              <a:rPr lang="en-US" sz="1200" dirty="0">
                <a:solidFill>
                  <a:schemeClr val="tx2"/>
                </a:solidFill>
              </a:rPr>
              <a:t>Claude : 60% Code Generation, Code Correction, PPT Content Creation – </a:t>
            </a:r>
            <a:r>
              <a:rPr lang="en-US" sz="1200" dirty="0" err="1">
                <a:solidFill>
                  <a:schemeClr val="tx2"/>
                </a:solidFill>
              </a:rPr>
              <a:t>Colab</a:t>
            </a:r>
            <a:r>
              <a:rPr lang="en-US" sz="1200" dirty="0">
                <a:solidFill>
                  <a:schemeClr val="tx2"/>
                </a:solidFill>
              </a:rPr>
              <a:t>  : Code Platform – </a:t>
            </a:r>
            <a:r>
              <a:rPr lang="en-US" sz="1200" dirty="0" err="1">
                <a:solidFill>
                  <a:schemeClr val="tx2"/>
                </a:solidFill>
              </a:rPr>
              <a:t>CanvaAi</a:t>
            </a:r>
            <a:r>
              <a:rPr lang="en-US" sz="1200" dirty="0">
                <a:solidFill>
                  <a:schemeClr val="tx2"/>
                </a:solidFill>
              </a:rPr>
              <a:t> : PPT template generator </a:t>
            </a:r>
          </a:p>
        </p:txBody>
      </p:sp>
    </p:spTree>
    <p:extLst>
      <p:ext uri="{BB962C8B-B14F-4D97-AF65-F5344CB8AC3E}">
        <p14:creationId xmlns:p14="http://schemas.microsoft.com/office/powerpoint/2010/main" val="370667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Overstocking &amp; Expiry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expire before sale, leading to direct inventory write-offs and operational losses.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Mismanagement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12140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discounting erodes margins without effectively clearing slow-moving stock.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Profitability Erosion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212140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waste percentages directly reduce net profit, especially in perishable categories.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chemeClr val="tx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5478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Research Question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accurately predict waste percentage and profitability at the individual product level to enable smarter inventory, pricing, and promotional decisions?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34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173736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1554480"/>
            <a:ext cx="484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Waste 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accurately forecast the waste percentage for each product, enabling proactive inventory management.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02920" cy="173736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1554480"/>
            <a:ext cx="484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Key Drivers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5087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variables — expiry proximity, discounts, sales volume, and category — most significantly drive waste and profitability.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502920" cy="173736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3520440"/>
            <a:ext cx="484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108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Profitability Forecasting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474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financial impact of waste and model profitability at product level to guide pricing decisions.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502920" cy="173736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3520440"/>
            <a:ext cx="484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3108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Recommendations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4747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insights into specific, data-driven business recommendations for inventory, pricing, and promotions.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1005840"/>
          </a:xfrm>
          <a:prstGeom prst="rect">
            <a:avLst/>
          </a:prstGeom>
          <a:solidFill>
            <a:srgbClr val="00A8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11680" cy="100584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2011680" cy="1005840"/>
          </a:xfrm>
          <a:prstGeom prst="rect">
            <a:avLst/>
          </a:prstGeom>
          <a:solidFill>
            <a:srgbClr val="00A8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1965960" cy="100584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069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554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539496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03120"/>
            <a:ext cx="5394960" cy="73152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DATASET?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633472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Product-level granularity — individual SKU transactions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Expiry &amp; shelf life data — critical for waste modeling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 P&amp;L fields: cost, selling price, discount, profit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 operational complexity: stores, suppliers, regions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Rich temporal data: transaction &amp; expiry date coverage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103120"/>
            <a:ext cx="2834640" cy="2788920"/>
          </a:xfrm>
          <a:prstGeom prst="rect">
            <a:avLst/>
          </a:prstGeom>
          <a:solidFill>
            <a:schemeClr val="tx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2103120"/>
            <a:ext cx="283464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240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01168" cy="20116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895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retail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547872"/>
            <a:ext cx="201168" cy="20116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5112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regression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classification tasks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4169664"/>
            <a:ext cx="201168" cy="20116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store &amp; 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UNDERSTANDING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Location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472184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435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/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719072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65960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929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12848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(5 zones)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3840480" cy="91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Segments driving waste variation across stores and geographies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&amp; Expiry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1472184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901184" y="1435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719072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1965960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6" name="Text 24"/>
          <p:cNvSpPr/>
          <p:nvPr/>
        </p:nvSpPr>
        <p:spPr>
          <a:xfrm>
            <a:off x="4901184" y="1929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Life Days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2212848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8" name="Text 26"/>
          <p:cNvSpPr/>
          <p:nvPr/>
        </p:nvSpPr>
        <p:spPr>
          <a:xfrm>
            <a:off x="4901184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 at Purchase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50592"/>
            <a:ext cx="3840480" cy="91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expiry proximity features — directly predict waste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9718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71800"/>
            <a:ext cx="4023360" cy="5486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Demand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" y="3483864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" y="3730752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" y="3977640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" y="3941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 At Purchase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" y="4224528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(derived)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462272"/>
            <a:ext cx="3840480" cy="91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Sales velocity inversely correlates with waste (-0.56)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9718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971800"/>
            <a:ext cx="4023360" cy="5486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Profit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73168" y="3483864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48" name="Text 46"/>
          <p:cNvSpPr/>
          <p:nvPr/>
        </p:nvSpPr>
        <p:spPr>
          <a:xfrm>
            <a:off x="4901184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Price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73168" y="3730752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0" name="Text 48"/>
          <p:cNvSpPr/>
          <p:nvPr/>
        </p:nvSpPr>
        <p:spPr>
          <a:xfrm>
            <a:off x="4901184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73168" y="3977640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2" name="Text 50"/>
          <p:cNvSpPr/>
          <p:nvPr/>
        </p:nvSpPr>
        <p:spPr>
          <a:xfrm>
            <a:off x="4901184" y="3941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4224528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4" name="Text 52"/>
          <p:cNvSpPr/>
          <p:nvPr/>
        </p:nvSpPr>
        <p:spPr>
          <a:xfrm>
            <a:off x="4901184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73168" y="4471416"/>
            <a:ext cx="54864" cy="146304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56" name="Text 54"/>
          <p:cNvSpPr/>
          <p:nvPr/>
        </p:nvSpPr>
        <p:spPr>
          <a:xfrm>
            <a:off x="4901184" y="4434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Wasted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54880" y="4462272"/>
            <a:ext cx="3840480" cy="9144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58" name="Text 56"/>
          <p:cNvSpPr/>
          <p:nvPr/>
        </p:nvSpPr>
        <p:spPr>
          <a:xfrm>
            <a:off x="4663440" y="456074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Financial impact variables; discount optimization critical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&amp; FEATURE ENGINEERING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0759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 Conversion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3624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pd.to_datetime() on Transaction_Date &amp; Expiration_Date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24128" y="170992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1719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Enable time arithmetic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30759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307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67528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to Expiry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3624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df['Days_To_Expire'] = Expiration_Date − Transaction_Date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67528" y="170992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5422392" y="1719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Critical expiry proximity feature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263347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633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Feature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6883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df['Month'] = Transaction_Date.dt.month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24128" y="303580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1078992" y="30449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Capture seasonality patterns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263347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2633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67528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Waste Target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67528" y="26883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df['High_Waste'] = (Waste_Pct &gt; 20).astype(int)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67528" y="303580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32" name="Text 30"/>
          <p:cNvSpPr/>
          <p:nvPr/>
        </p:nvSpPr>
        <p:spPr>
          <a:xfrm>
            <a:off x="5422392" y="30449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Binary classification label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" y="395935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Cost Metric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128" y="4014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df['Waste_Cost'] = Units_Wasted × Cost_Price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24128" y="436168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39" name="Text 37"/>
          <p:cNvSpPr/>
          <p:nvPr/>
        </p:nvSpPr>
        <p:spPr>
          <a:xfrm>
            <a:off x="1078992" y="43708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Business financial impact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3959352"/>
            <a:ext cx="438912" cy="438912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67528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67528" y="4014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 on all object-type columns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67528" y="4361688"/>
            <a:ext cx="3246120" cy="201168"/>
          </a:xfrm>
          <a:prstGeom prst="rect">
            <a:avLst/>
          </a:prstGeom>
          <a:solidFill>
            <a:srgbClr val="B2E8E8"/>
          </a:solidFill>
          <a:ln/>
        </p:spPr>
      </p:sp>
      <p:sp>
        <p:nvSpPr>
          <p:cNvPr id="46" name="Text 44"/>
          <p:cNvSpPr/>
          <p:nvPr/>
        </p:nvSpPr>
        <p:spPr>
          <a:xfrm>
            <a:off x="5422392" y="43708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ML-ready categorical features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8A47-D8D7-20B4-2A4E-2A7F7CCA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F4006F-B70C-6331-545D-A5AF9C020E4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8458B5-4173-96C0-CD38-CF7A262FF16C}"/>
              </a:ext>
            </a:extLst>
          </p:cNvPr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6017CD-E64A-59B8-053D-15F7D7ED995E}"/>
              </a:ext>
            </a:extLst>
          </p:cNvPr>
          <p:cNvSpPr/>
          <p:nvPr/>
        </p:nvSpPr>
        <p:spPr>
          <a:xfrm>
            <a:off x="1005840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WASTE vs EXPIRY &amp; PROFIT vs DISCOUNT</a:t>
            </a:r>
            <a:endParaRPr lang="en-US" sz="20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CFA5981-583A-D23D-0014-FD6678898950}"/>
              </a:ext>
            </a:extLst>
          </p:cNvPr>
          <p:cNvSpPr/>
          <p:nvPr/>
        </p:nvSpPr>
        <p:spPr>
          <a:xfrm>
            <a:off x="320040" y="3401568"/>
            <a:ext cx="4206240" cy="1508760"/>
          </a:xfrm>
          <a:prstGeom prst="rect">
            <a:avLst/>
          </a:prstGeom>
          <a:solidFill>
            <a:schemeClr val="tx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5634DAE-402A-CDC2-5B98-D6D4D670155D}"/>
              </a:ext>
            </a:extLst>
          </p:cNvPr>
          <p:cNvSpPr/>
          <p:nvPr/>
        </p:nvSpPr>
        <p:spPr>
          <a:xfrm>
            <a:off x="320040" y="3401568"/>
            <a:ext cx="4206240" cy="6400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5A30020-4351-A897-3722-12E7D1C52ACD}"/>
              </a:ext>
            </a:extLst>
          </p:cNvPr>
          <p:cNvSpPr/>
          <p:nvPr/>
        </p:nvSpPr>
        <p:spPr>
          <a:xfrm>
            <a:off x="457200" y="3520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Expiry = Waste Driver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D4479EF-9BC4-4EE1-371D-5407F16811C4}"/>
              </a:ext>
            </a:extLst>
          </p:cNvPr>
          <p:cNvSpPr/>
          <p:nvPr/>
        </p:nvSpPr>
        <p:spPr>
          <a:xfrm>
            <a:off x="457200" y="39136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longer shelf life accumulate higher waste over time. Near-expiry products see a sharp waste spike → Inventory rotation is critical.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6A98C05-17D2-383A-7DB1-E7130D9D9931}"/>
              </a:ext>
            </a:extLst>
          </p:cNvPr>
          <p:cNvSpPr/>
          <p:nvPr/>
        </p:nvSpPr>
        <p:spPr>
          <a:xfrm>
            <a:off x="4709160" y="3401568"/>
            <a:ext cx="4206240" cy="1508760"/>
          </a:xfrm>
          <a:prstGeom prst="rect">
            <a:avLst/>
          </a:prstGeom>
          <a:solidFill>
            <a:schemeClr val="tx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470B9A4-2A08-BB77-7AF3-72C67432CF7F}"/>
              </a:ext>
            </a:extLst>
          </p:cNvPr>
          <p:cNvSpPr/>
          <p:nvPr/>
        </p:nvSpPr>
        <p:spPr>
          <a:xfrm>
            <a:off x="4709160" y="3401568"/>
            <a:ext cx="420624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CF840D6-1F77-F258-0B92-DF01F31BC4AB}"/>
              </a:ext>
            </a:extLst>
          </p:cNvPr>
          <p:cNvSpPr/>
          <p:nvPr/>
        </p:nvSpPr>
        <p:spPr>
          <a:xfrm>
            <a:off x="4846320" y="3520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Discounts Hurt Margins</a:t>
            </a: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7B4811B-663F-0C2B-B428-68CBEA2DD273}"/>
              </a:ext>
            </a:extLst>
          </p:cNvPr>
          <p:cNvSpPr/>
          <p:nvPr/>
        </p:nvSpPr>
        <p:spPr>
          <a:xfrm>
            <a:off x="4846320" y="39136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30% push average profit into negative territory. Blanket discounting is not a viable clearance strategy → Targeted pricing needed.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F36CE5-69F8-9AC2-94FB-E992D7042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15132" y="877824"/>
            <a:ext cx="3594295" cy="24255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DCDD556-1030-C09C-4326-180645541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940456"/>
            <a:ext cx="4069080" cy="236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6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WASTE DISTRIBUTION &amp; OUTLIERS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878932057"/>
              </p:ext>
            </p:extLst>
          </p:nvPr>
        </p:nvGraphicFramePr>
        <p:xfrm>
          <a:off x="320040" y="896112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896112"/>
            <a:ext cx="32461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896112"/>
            <a:ext cx="324612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Outlier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371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Range: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– 40% Waste
</a:t>
            </a: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at 80–100%
</a:t>
            </a: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2834640"/>
            <a:ext cx="32461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32461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products have &lt;20% waste — majority performing adequately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0" y="37581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Extreme outliers at 80–100% waste indicate systemic inventory failure in specific SKUs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42702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 suggests two distinct segments: efficient and inefficient products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C145-2EAD-9440-D36E-99DC084C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848BC5-91D9-E57F-E2CA-3B1AA16E2A9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6DBC9B-BF89-1E46-CD8D-E74DC4E6A07C}"/>
              </a:ext>
            </a:extLst>
          </p:cNvPr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5C38B5-3BF5-734B-51D3-62520C2FBAC6}"/>
              </a:ext>
            </a:extLst>
          </p:cNvPr>
          <p:cNvSpPr/>
          <p:nvPr/>
        </p:nvSpPr>
        <p:spPr>
          <a:xfrm>
            <a:off x="1005840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OPERATIONAL &amp; CATEGORY INSIGHTS</a:t>
            </a:r>
            <a:endParaRPr lang="en-US" sz="20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CF63B8BF-F8D0-8CBC-BCDC-6D7B80A230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060909"/>
              </p:ext>
            </p:extLst>
          </p:nvPr>
        </p:nvGraphicFramePr>
        <p:xfrm>
          <a:off x="4280095" y="1156365"/>
          <a:ext cx="4719711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AA3FBE39-DDCD-CE94-569C-181F21CB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7374" y="986974"/>
            <a:ext cx="4290646" cy="2425148"/>
          </a:xfrm>
          <a:prstGeom prst="rect">
            <a:avLst/>
          </a:prstGeom>
        </p:spPr>
      </p:pic>
      <p:sp>
        <p:nvSpPr>
          <p:cNvPr id="44" name="Text 8">
            <a:extLst>
              <a:ext uri="{FF2B5EF4-FFF2-40B4-BE49-F238E27FC236}">
                <a16:creationId xmlns:a16="http://schemas.microsoft.com/office/drawing/2014/main" id="{516B1C47-E667-54D3-2D3C-AFC547373B8E}"/>
              </a:ext>
            </a:extLst>
          </p:cNvPr>
          <p:cNvSpPr/>
          <p:nvPr/>
        </p:nvSpPr>
        <p:spPr>
          <a:xfrm>
            <a:off x="274320" y="3478239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vs Waste</a:t>
            </a:r>
            <a:endParaRPr lang="en-US" sz="11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A819327C-82AF-2FAF-5614-C31E1FAAAFDC}"/>
              </a:ext>
            </a:extLst>
          </p:cNvPr>
          <p:cNvSpPr/>
          <p:nvPr/>
        </p:nvSpPr>
        <p:spPr>
          <a:xfrm>
            <a:off x="274320" y="3818676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Units Sold = Lower Waste. Correlation: −0.56. Fast movers eliminate expiry risk.</a:t>
            </a:r>
            <a:endParaRPr lang="en-US" sz="95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8A8D94B7-6277-84F4-0CB5-D8A9CC09C04F}"/>
              </a:ext>
            </a:extLst>
          </p:cNvPr>
          <p:cNvSpPr/>
          <p:nvPr/>
        </p:nvSpPr>
        <p:spPr>
          <a:xfrm>
            <a:off x="274320" y="41478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→ Profit Loss</a:t>
            </a:r>
            <a:endParaRPr lang="en-US" sz="11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9985AF5-906A-0D61-F416-5ED3B932579F}"/>
              </a:ext>
            </a:extLst>
          </p:cNvPr>
          <p:cNvSpPr/>
          <p:nvPr/>
        </p:nvSpPr>
        <p:spPr>
          <a:xfrm>
            <a:off x="274320" y="440389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% negatively impacts profit (−0.37). Every % of waste is a direct margin hit.</a:t>
            </a:r>
            <a:endParaRPr lang="en-US" sz="95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54707C3-727C-A36A-137B-08C488BFF4D7}"/>
              </a:ext>
            </a:extLst>
          </p:cNvPr>
          <p:cNvSpPr/>
          <p:nvPr/>
        </p:nvSpPr>
        <p:spPr>
          <a:xfrm>
            <a:off x="1856938" y="370894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43E97643-F9A5-A4B5-F3B6-11B6B2DD6791}"/>
              </a:ext>
            </a:extLst>
          </p:cNvPr>
          <p:cNvSpPr/>
          <p:nvPr/>
        </p:nvSpPr>
        <p:spPr>
          <a:xfrm>
            <a:off x="3328416" y="4219607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 Uniformity</a:t>
            </a:r>
            <a:endParaRPr lang="en-US" sz="11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65A629C7-24A2-85C3-76D0-026DD6BED6F0}"/>
              </a:ext>
            </a:extLst>
          </p:cNvPr>
          <p:cNvSpPr/>
          <p:nvPr/>
        </p:nvSpPr>
        <p:spPr>
          <a:xfrm>
            <a:off x="3328416" y="4470714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regions show ~22% waste — problem is systemic, not geographic. Requires product-level fix.</a:t>
            </a:r>
            <a:endParaRPr lang="en-US" sz="95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F781EC55-E447-BB9A-7035-0AFA7351D864}"/>
              </a:ext>
            </a:extLst>
          </p:cNvPr>
          <p:cNvSpPr/>
          <p:nvPr/>
        </p:nvSpPr>
        <p:spPr>
          <a:xfrm>
            <a:off x="1856938" y="44221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3746E44A-1F12-D562-919D-EF689A3AEF30}"/>
              </a:ext>
            </a:extLst>
          </p:cNvPr>
          <p:cNvSpPr/>
          <p:nvPr/>
        </p:nvSpPr>
        <p:spPr>
          <a:xfrm>
            <a:off x="6053328" y="42667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Outlier</a:t>
            </a:r>
            <a:endParaRPr lang="en-US" sz="11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0E3E3A7D-0B3A-8FDF-1348-D08118C537F8}"/>
              </a:ext>
            </a:extLst>
          </p:cNvPr>
          <p:cNvSpPr/>
          <p:nvPr/>
        </p:nvSpPr>
        <p:spPr>
          <a:xfrm>
            <a:off x="6053328" y="444117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 show ~50% waste — highest of all categories. Cold chain or demand issue.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84138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864459"/>
            <a:ext cx="11887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834640" y="872198"/>
            <a:ext cx="11887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023360" y="871495"/>
            <a:ext cx="1188720" cy="4114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212080" y="872198"/>
            <a:ext cx="11887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0" y="872901"/>
            <a:ext cx="118872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To_Expire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589520" y="872198"/>
            <a:ext cx="11887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914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Life_Days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0040" y="1325880"/>
            <a:ext cx="1298448" cy="475488"/>
          </a:xfrm>
          <a:prstGeom prst="rect">
            <a:avLst/>
          </a:prstGeom>
          <a:solidFill>
            <a:schemeClr val="accent3"/>
          </a:solidFill>
          <a:ln>
            <a:solidFill>
              <a:schemeClr val="bg2"/>
            </a:solidFill>
          </a:ln>
        </p:spPr>
      </p:sp>
      <p:sp>
        <p:nvSpPr>
          <p:cNvPr id="18" name="Text 16"/>
          <p:cNvSpPr/>
          <p:nvPr/>
        </p:nvSpPr>
        <p:spPr>
          <a:xfrm>
            <a:off x="320040" y="13258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45920" y="1325880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20" name="Text 18"/>
          <p:cNvSpPr/>
          <p:nvPr/>
        </p:nvSpPr>
        <p:spPr>
          <a:xfrm>
            <a:off x="164592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34640" y="1325880"/>
            <a:ext cx="1188720" cy="475488"/>
          </a:xfrm>
          <a:prstGeom prst="rect">
            <a:avLst/>
          </a:prstGeom>
          <a:solidFill>
            <a:srgbClr val="C05020"/>
          </a:solidFill>
          <a:ln>
            <a:solidFill>
              <a:schemeClr val="tx1"/>
            </a:solidFill>
          </a:ln>
        </p:spPr>
      </p:sp>
      <p:sp>
        <p:nvSpPr>
          <p:cNvPr id="22" name="Text 20"/>
          <p:cNvSpPr/>
          <p:nvPr/>
        </p:nvSpPr>
        <p:spPr>
          <a:xfrm>
            <a:off x="283464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23360" y="1325880"/>
            <a:ext cx="1188720" cy="475488"/>
          </a:xfrm>
          <a:prstGeom prst="rect">
            <a:avLst/>
          </a:prstGeom>
          <a:solidFill>
            <a:srgbClr val="E8A87C"/>
          </a:solidFill>
          <a:ln>
            <a:solidFill>
              <a:schemeClr val="tx1"/>
            </a:solidFill>
          </a:ln>
        </p:spPr>
      </p:sp>
      <p:sp>
        <p:nvSpPr>
          <p:cNvPr id="24" name="Text 22"/>
          <p:cNvSpPr/>
          <p:nvPr/>
        </p:nvSpPr>
        <p:spPr>
          <a:xfrm>
            <a:off x="402336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1325880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26" name="Text 24"/>
          <p:cNvSpPr/>
          <p:nvPr/>
        </p:nvSpPr>
        <p:spPr>
          <a:xfrm>
            <a:off x="521208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1325880"/>
            <a:ext cx="1188720" cy="475488"/>
          </a:xfrm>
          <a:prstGeom prst="rect">
            <a:avLst/>
          </a:prstGeom>
          <a:solidFill>
            <a:srgbClr val="50B8D0"/>
          </a:solidFill>
          <a:ln>
            <a:solidFill>
              <a:schemeClr val="tx1"/>
            </a:solidFill>
          </a:ln>
        </p:spPr>
      </p:sp>
      <p:sp>
        <p:nvSpPr>
          <p:cNvPr id="28" name="Text 26"/>
          <p:cNvSpPr/>
          <p:nvPr/>
        </p:nvSpPr>
        <p:spPr>
          <a:xfrm>
            <a:off x="640080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1325880"/>
            <a:ext cx="1188720" cy="475488"/>
          </a:xfrm>
          <a:prstGeom prst="rect">
            <a:avLst/>
          </a:prstGeom>
          <a:solidFill>
            <a:srgbClr val="50B8D0"/>
          </a:solidFill>
          <a:ln>
            <a:solidFill>
              <a:schemeClr val="tx1"/>
            </a:solidFill>
          </a:ln>
        </p:spPr>
      </p:sp>
      <p:sp>
        <p:nvSpPr>
          <p:cNvPr id="30" name="Text 28"/>
          <p:cNvSpPr/>
          <p:nvPr/>
        </p:nvSpPr>
        <p:spPr>
          <a:xfrm>
            <a:off x="7589520" y="132588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1801368"/>
            <a:ext cx="1298448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180136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645920" y="1801368"/>
            <a:ext cx="1188720" cy="475488"/>
          </a:xfrm>
          <a:prstGeom prst="rect">
            <a:avLst/>
          </a:prstGeom>
          <a:solidFill>
            <a:srgbClr val="C05020"/>
          </a:solidFill>
          <a:ln>
            <a:solidFill>
              <a:schemeClr val="tx1"/>
            </a:solidFill>
          </a:ln>
        </p:spPr>
      </p:sp>
      <p:sp>
        <p:nvSpPr>
          <p:cNvPr id="34" name="Text 32"/>
          <p:cNvSpPr/>
          <p:nvPr/>
        </p:nvSpPr>
        <p:spPr>
          <a:xfrm>
            <a:off x="164592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-0.56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34640" y="1801368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36" name="Text 34"/>
          <p:cNvSpPr/>
          <p:nvPr/>
        </p:nvSpPr>
        <p:spPr>
          <a:xfrm>
            <a:off x="283464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023360" y="1801368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38" name="Text 36"/>
          <p:cNvSpPr/>
          <p:nvPr/>
        </p:nvSpPr>
        <p:spPr>
          <a:xfrm>
            <a:off x="402336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12080" y="1801368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40" name="Text 38"/>
          <p:cNvSpPr/>
          <p:nvPr/>
        </p:nvSpPr>
        <p:spPr>
          <a:xfrm>
            <a:off x="521208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0" y="1801368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42" name="Text 40"/>
          <p:cNvSpPr/>
          <p:nvPr/>
        </p:nvSpPr>
        <p:spPr>
          <a:xfrm>
            <a:off x="640080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89520" y="1801368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44" name="Text 42"/>
          <p:cNvSpPr/>
          <p:nvPr/>
        </p:nvSpPr>
        <p:spPr>
          <a:xfrm>
            <a:off x="7589520" y="1801368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0040" y="2276856"/>
            <a:ext cx="1298448" cy="4754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22768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645920" y="2276856"/>
            <a:ext cx="1188720" cy="475488"/>
          </a:xfrm>
          <a:prstGeom prst="rect">
            <a:avLst/>
          </a:prstGeom>
          <a:solidFill>
            <a:srgbClr val="E8A87C"/>
          </a:solidFill>
          <a:ln>
            <a:solidFill>
              <a:schemeClr val="tx1"/>
            </a:solidFill>
          </a:ln>
        </p:spPr>
      </p:sp>
      <p:sp>
        <p:nvSpPr>
          <p:cNvPr id="48" name="Text 46"/>
          <p:cNvSpPr/>
          <p:nvPr/>
        </p:nvSpPr>
        <p:spPr>
          <a:xfrm>
            <a:off x="164592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834640" y="2276856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50" name="Text 48"/>
          <p:cNvSpPr/>
          <p:nvPr/>
        </p:nvSpPr>
        <p:spPr>
          <a:xfrm>
            <a:off x="283464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023360" y="2276856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52" name="Text 50"/>
          <p:cNvSpPr/>
          <p:nvPr/>
        </p:nvSpPr>
        <p:spPr>
          <a:xfrm>
            <a:off x="402336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212080" y="2276856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54" name="Text 52"/>
          <p:cNvSpPr/>
          <p:nvPr/>
        </p:nvSpPr>
        <p:spPr>
          <a:xfrm>
            <a:off x="521208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400800" y="2276856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56" name="Text 54"/>
          <p:cNvSpPr/>
          <p:nvPr/>
        </p:nvSpPr>
        <p:spPr>
          <a:xfrm>
            <a:off x="640080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589520" y="2276856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58" name="Text 56"/>
          <p:cNvSpPr/>
          <p:nvPr/>
        </p:nvSpPr>
        <p:spPr>
          <a:xfrm>
            <a:off x="7589520" y="2276856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20040" y="2752344"/>
            <a:ext cx="1298448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275234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645920" y="2752344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62" name="Text 60"/>
          <p:cNvSpPr/>
          <p:nvPr/>
        </p:nvSpPr>
        <p:spPr>
          <a:xfrm>
            <a:off x="164592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834640" y="2752344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64" name="Text 62"/>
          <p:cNvSpPr/>
          <p:nvPr/>
        </p:nvSpPr>
        <p:spPr>
          <a:xfrm>
            <a:off x="283464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023360" y="2752344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66" name="Text 64"/>
          <p:cNvSpPr/>
          <p:nvPr/>
        </p:nvSpPr>
        <p:spPr>
          <a:xfrm>
            <a:off x="402336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-0.06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212080" y="2752344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68" name="Text 66"/>
          <p:cNvSpPr/>
          <p:nvPr/>
        </p:nvSpPr>
        <p:spPr>
          <a:xfrm>
            <a:off x="521208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400800" y="2752344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70" name="Text 68"/>
          <p:cNvSpPr/>
          <p:nvPr/>
        </p:nvSpPr>
        <p:spPr>
          <a:xfrm>
            <a:off x="640080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589520" y="2752344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72" name="Text 70"/>
          <p:cNvSpPr/>
          <p:nvPr/>
        </p:nvSpPr>
        <p:spPr>
          <a:xfrm>
            <a:off x="7589520" y="2752344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20040" y="3227832"/>
            <a:ext cx="1298448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4" name="Text 72"/>
          <p:cNvSpPr/>
          <p:nvPr/>
        </p:nvSpPr>
        <p:spPr>
          <a:xfrm>
            <a:off x="320040" y="3227832"/>
            <a:ext cx="1298448" cy="475488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To_Expire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645920" y="3227832"/>
            <a:ext cx="1188720" cy="475488"/>
          </a:xfrm>
          <a:prstGeom prst="rect">
            <a:avLst/>
          </a:prstGeom>
          <a:solidFill>
            <a:srgbClr val="50B8D0"/>
          </a:solidFill>
          <a:ln>
            <a:solidFill>
              <a:schemeClr val="tx1"/>
            </a:solidFill>
          </a:ln>
        </p:spPr>
      </p:sp>
      <p:sp>
        <p:nvSpPr>
          <p:cNvPr id="76" name="Text 74"/>
          <p:cNvSpPr/>
          <p:nvPr/>
        </p:nvSpPr>
        <p:spPr>
          <a:xfrm>
            <a:off x="164592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834640" y="3227832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78" name="Text 76"/>
          <p:cNvSpPr/>
          <p:nvPr/>
        </p:nvSpPr>
        <p:spPr>
          <a:xfrm>
            <a:off x="283464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4023360" y="3227832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80" name="Text 78"/>
          <p:cNvSpPr/>
          <p:nvPr/>
        </p:nvSpPr>
        <p:spPr>
          <a:xfrm>
            <a:off x="402336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5212080" y="3227832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82" name="Text 80"/>
          <p:cNvSpPr/>
          <p:nvPr/>
        </p:nvSpPr>
        <p:spPr>
          <a:xfrm>
            <a:off x="521208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400800" y="3227832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84" name="Text 82"/>
          <p:cNvSpPr/>
          <p:nvPr/>
        </p:nvSpPr>
        <p:spPr>
          <a:xfrm>
            <a:off x="640080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589520" y="3227832"/>
            <a:ext cx="1188720" cy="475488"/>
          </a:xfrm>
          <a:prstGeom prst="rect">
            <a:avLst/>
          </a:prstGeom>
          <a:solidFill>
            <a:srgbClr val="0A7B9F"/>
          </a:solidFill>
          <a:ln>
            <a:solidFill>
              <a:schemeClr val="tx1"/>
            </a:solidFill>
          </a:ln>
        </p:spPr>
      </p:sp>
      <p:sp>
        <p:nvSpPr>
          <p:cNvPr id="86" name="Text 84"/>
          <p:cNvSpPr/>
          <p:nvPr/>
        </p:nvSpPr>
        <p:spPr>
          <a:xfrm>
            <a:off x="7589520" y="3227832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320040" y="3703320"/>
            <a:ext cx="1298448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8" name="Text 86"/>
          <p:cNvSpPr/>
          <p:nvPr/>
        </p:nvSpPr>
        <p:spPr>
          <a:xfrm>
            <a:off x="320040" y="370332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Life_Days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645920" y="3703320"/>
            <a:ext cx="1188720" cy="475488"/>
          </a:xfrm>
          <a:prstGeom prst="rect">
            <a:avLst/>
          </a:prstGeom>
          <a:solidFill>
            <a:srgbClr val="50B8D0"/>
          </a:solidFill>
          <a:ln>
            <a:solidFill>
              <a:schemeClr val="tx1"/>
            </a:solidFill>
          </a:ln>
        </p:spPr>
      </p:sp>
      <p:sp>
        <p:nvSpPr>
          <p:cNvPr id="90" name="Text 88"/>
          <p:cNvSpPr/>
          <p:nvPr/>
        </p:nvSpPr>
        <p:spPr>
          <a:xfrm>
            <a:off x="164592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2834640" y="3703320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92" name="Text 90"/>
          <p:cNvSpPr/>
          <p:nvPr/>
        </p:nvSpPr>
        <p:spPr>
          <a:xfrm>
            <a:off x="283464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4023360" y="3703320"/>
            <a:ext cx="1188720" cy="475488"/>
          </a:xfrm>
          <a:prstGeom prst="rect">
            <a:avLst/>
          </a:prstGeom>
          <a:solidFill>
            <a:srgbClr val="D4EEF5"/>
          </a:solidFill>
          <a:ln>
            <a:solidFill>
              <a:schemeClr val="tx1"/>
            </a:solidFill>
          </a:ln>
        </p:spPr>
      </p:sp>
      <p:sp>
        <p:nvSpPr>
          <p:cNvPr id="94" name="Text 92"/>
          <p:cNvSpPr/>
          <p:nvPr/>
        </p:nvSpPr>
        <p:spPr>
          <a:xfrm>
            <a:off x="402336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212080" y="3703320"/>
            <a:ext cx="1188720" cy="475488"/>
          </a:xfrm>
          <a:prstGeom prst="rect">
            <a:avLst/>
          </a:prstGeom>
          <a:solidFill>
            <a:srgbClr val="F4E4D8"/>
          </a:solidFill>
          <a:ln>
            <a:solidFill>
              <a:schemeClr val="tx1"/>
            </a:solidFill>
          </a:ln>
        </p:spPr>
      </p:sp>
      <p:sp>
        <p:nvSpPr>
          <p:cNvPr id="96" name="Text 94"/>
          <p:cNvSpPr/>
          <p:nvPr/>
        </p:nvSpPr>
        <p:spPr>
          <a:xfrm>
            <a:off x="521208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00800" y="3703320"/>
            <a:ext cx="1188720" cy="475488"/>
          </a:xfrm>
          <a:prstGeom prst="rect">
            <a:avLst/>
          </a:prstGeom>
          <a:solidFill>
            <a:srgbClr val="0A7B9F"/>
          </a:solidFill>
          <a:ln>
            <a:solidFill>
              <a:schemeClr val="tx1"/>
            </a:solidFill>
          </a:ln>
        </p:spPr>
      </p:sp>
      <p:sp>
        <p:nvSpPr>
          <p:cNvPr id="98" name="Text 96"/>
          <p:cNvSpPr/>
          <p:nvPr/>
        </p:nvSpPr>
        <p:spPr>
          <a:xfrm>
            <a:off x="640080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589520" y="3703320"/>
            <a:ext cx="1188720" cy="475488"/>
          </a:xfrm>
          <a:prstGeom prst="rect">
            <a:avLst/>
          </a:prstGeom>
          <a:solidFill>
            <a:srgbClr val="0D4F6E"/>
          </a:solidFill>
          <a:ln>
            <a:solidFill>
              <a:schemeClr val="tx1"/>
            </a:solidFill>
          </a:ln>
        </p:spPr>
      </p:sp>
      <p:sp>
        <p:nvSpPr>
          <p:cNvPr id="100" name="Text 98"/>
          <p:cNvSpPr/>
          <p:nvPr/>
        </p:nvSpPr>
        <p:spPr>
          <a:xfrm>
            <a:off x="7589520" y="3703320"/>
            <a:ext cx="1188720" cy="475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0" y="4270598"/>
            <a:ext cx="9144000" cy="87290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45720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CORRELATIONS: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92024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−0.56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92024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vs Sales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more reduces waste significantly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93192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−0.37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393192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vs Profit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directly cuts profitability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94360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+0.99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5943600" y="4544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↔ Shelf Life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collinear — use one in models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95528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−0.09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7955280" y="4544568"/>
            <a:ext cx="7666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Waste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2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have weak effect on waste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APPROACH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298448" cy="7772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960120"/>
            <a:ext cx="1298448" cy="77724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9" name="Text 7"/>
          <p:cNvSpPr/>
          <p:nvPr/>
        </p:nvSpPr>
        <p:spPr>
          <a:xfrm>
            <a:off x="1755648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91256" y="960120"/>
            <a:ext cx="1298448" cy="77724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2" name="Text 10"/>
          <p:cNvSpPr/>
          <p:nvPr/>
        </p:nvSpPr>
        <p:spPr>
          <a:xfrm>
            <a:off x="3191256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298448" cy="77724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62472" y="960120"/>
            <a:ext cx="1298448" cy="77724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8" name="Text 16"/>
          <p:cNvSpPr/>
          <p:nvPr/>
        </p:nvSpPr>
        <p:spPr>
          <a:xfrm>
            <a:off x="6062472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960120"/>
            <a:ext cx="1298448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96012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965960"/>
            <a:ext cx="2926080" cy="1188720"/>
          </a:xfrm>
          <a:prstGeom prst="rect">
            <a:avLst/>
          </a:prstGeom>
          <a:solidFill>
            <a:srgbClr val="00A8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0.699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004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1965960"/>
            <a:ext cx="2926080" cy="118872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20756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8328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(Waste %)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46520" y="1965960"/>
            <a:ext cx="2377440" cy="1188720"/>
          </a:xfrm>
          <a:prstGeom prst="rect">
            <a:avLst/>
          </a:prstGeom>
          <a:solidFill>
            <a:srgbClr val="00A8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2075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4652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291840"/>
            <a:ext cx="8503920" cy="16459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291840"/>
            <a:ext cx="8503920" cy="6400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01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INTERPRETATION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R² = 0.699 — Model explains 69.9% variance in Waste_Pct — near-perfect prediction accuracy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RMSE = 0.78% — Predictions deviate by &lt;1% from actual waste, well within operational tolerance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Random Forest captures non-linear relationships between expiry, sales, and waste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Feature importance highlights: Days_To_Expire, Units_Sold, and Shelf_Life_Days as top predictors</a:t>
            </a:r>
            <a:endParaRPr lang="en-US" sz="1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FC0A6C-AF1E-84FC-0194-F6D8EA8E6920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618488" y="1348740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BD048C-4BF1-0B82-0E8D-E1E911DF219A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054096" y="1348740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89D4EB-5E14-EFE0-4ACF-090EE1C4FE13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4489704" y="1348740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9CAB93-30AC-71A8-BEAD-ED3C7B374011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5925312" y="1348740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F1E7DB-BE0B-1523-CE2A-EEBE7FB2B461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7360920" y="1348740"/>
            <a:ext cx="137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79026A-9F4F-3843-1E7C-B3BCC66D945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05F4A5-63F1-D3A6-5F5D-F0FEA1254210}"/>
              </a:ext>
            </a:extLst>
          </p:cNvPr>
          <p:cNvSpPr/>
          <p:nvPr/>
        </p:nvSpPr>
        <p:spPr>
          <a:xfrm>
            <a:off x="274320" y="45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442169-85A0-76DD-4AE2-577C4DBB2D7A}"/>
              </a:ext>
            </a:extLst>
          </p:cNvPr>
          <p:cNvSpPr/>
          <p:nvPr/>
        </p:nvSpPr>
        <p:spPr>
          <a:xfrm>
            <a:off x="1005840" y="201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&amp; BUSINESS RECOMMENDATIONS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1EEA13-A8A8-05C7-701F-ADDD6588FCC2}"/>
              </a:ext>
            </a:extLst>
          </p:cNvPr>
          <p:cNvSpPr/>
          <p:nvPr/>
        </p:nvSpPr>
        <p:spPr>
          <a:xfrm>
            <a:off x="320040" y="960120"/>
            <a:ext cx="8503920" cy="841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7C1762-CDA5-C1E6-8F8B-BF264767C6E8}"/>
              </a:ext>
            </a:extLst>
          </p:cNvPr>
          <p:cNvSpPr/>
          <p:nvPr/>
        </p:nvSpPr>
        <p:spPr>
          <a:xfrm>
            <a:off x="320040" y="960120"/>
            <a:ext cx="64008" cy="84124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D542A1-C2C7-BE28-CF27-EA6E22993CC2}"/>
              </a:ext>
            </a:extLst>
          </p:cNvPr>
          <p:cNvSpPr/>
          <p:nvPr/>
        </p:nvSpPr>
        <p:spPr>
          <a:xfrm>
            <a:off x="45720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72F9DB-6EEC-F58B-5483-C8A375E1782B}"/>
              </a:ext>
            </a:extLst>
          </p:cNvPr>
          <p:cNvSpPr/>
          <p:nvPr/>
        </p:nvSpPr>
        <p:spPr>
          <a:xfrm>
            <a:off x="1051560" y="1033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A184AB-28D4-9129-C72F-A4F86DE9E4BD}"/>
              </a:ext>
            </a:extLst>
          </p:cNvPr>
          <p:cNvSpPr/>
          <p:nvPr/>
        </p:nvSpPr>
        <p:spPr>
          <a:xfrm>
            <a:off x="1828800" y="10332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increases near expiry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26FB13-D519-049D-6620-4EAD4FFDA807}"/>
              </a:ext>
            </a:extLst>
          </p:cNvPr>
          <p:cNvSpPr/>
          <p:nvPr/>
        </p:nvSpPr>
        <p:spPr>
          <a:xfrm>
            <a:off x="594360" y="1380744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 expiry-based dynamic pricing — reduce prices 7 days before expiry to accelerate sales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69C1183-F26E-C208-39A7-EE2FCA13DCC5}"/>
              </a:ext>
            </a:extLst>
          </p:cNvPr>
          <p:cNvSpPr/>
          <p:nvPr/>
        </p:nvSpPr>
        <p:spPr>
          <a:xfrm>
            <a:off x="320040" y="1920240"/>
            <a:ext cx="8503920" cy="841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B9E225-6998-C37C-FE50-4184243ACBF8}"/>
              </a:ext>
            </a:extLst>
          </p:cNvPr>
          <p:cNvSpPr/>
          <p:nvPr/>
        </p:nvSpPr>
        <p:spPr>
          <a:xfrm>
            <a:off x="320040" y="1920240"/>
            <a:ext cx="64008" cy="84124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672BA8-08CE-0ACF-1A95-74BA09567AE3}"/>
              </a:ext>
            </a:extLst>
          </p:cNvPr>
          <p:cNvSpPr/>
          <p:nvPr/>
        </p:nvSpPr>
        <p:spPr>
          <a:xfrm>
            <a:off x="457200" y="2057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74FD6E-0B9C-69D6-8418-1D1466E9151C}"/>
              </a:ext>
            </a:extLst>
          </p:cNvPr>
          <p:cNvSpPr/>
          <p:nvPr/>
        </p:nvSpPr>
        <p:spPr>
          <a:xfrm>
            <a:off x="105156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2D65F14-0B19-E1D7-666E-8411A9F7CE02}"/>
              </a:ext>
            </a:extLst>
          </p:cNvPr>
          <p:cNvSpPr/>
          <p:nvPr/>
        </p:nvSpPr>
        <p:spPr>
          <a:xfrm>
            <a:off x="1828800" y="19933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discounts reduce profit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7F15C88-ABD0-B0FC-3259-6361CFF06B05}"/>
              </a:ext>
            </a:extLst>
          </p:cNvPr>
          <p:cNvSpPr/>
          <p:nvPr/>
        </p:nvSpPr>
        <p:spPr>
          <a:xfrm>
            <a:off x="594360" y="2350008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blanket discounting with targeted, product-specific markdown strategies above 20% discount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327DEC0-B59A-890B-D2D4-030B99DB5BF0}"/>
              </a:ext>
            </a:extLst>
          </p:cNvPr>
          <p:cNvSpPr/>
          <p:nvPr/>
        </p:nvSpPr>
        <p:spPr>
          <a:xfrm>
            <a:off x="320040" y="2880360"/>
            <a:ext cx="8503920" cy="841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BF50236-6E7E-0B65-25A4-8B88E8DE0A83}"/>
              </a:ext>
            </a:extLst>
          </p:cNvPr>
          <p:cNvSpPr/>
          <p:nvPr/>
        </p:nvSpPr>
        <p:spPr>
          <a:xfrm>
            <a:off x="320040" y="2880360"/>
            <a:ext cx="64008" cy="84124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BD246EC-7043-0F19-918C-1767EDF5181A}"/>
              </a:ext>
            </a:extLst>
          </p:cNvPr>
          <p:cNvSpPr/>
          <p:nvPr/>
        </p:nvSpPr>
        <p:spPr>
          <a:xfrm>
            <a:off x="4572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1E9FCFE-B430-9095-4DB1-3EAEED627CBB}"/>
              </a:ext>
            </a:extLst>
          </p:cNvPr>
          <p:cNvSpPr/>
          <p:nvPr/>
        </p:nvSpPr>
        <p:spPr>
          <a:xfrm>
            <a:off x="1051560" y="2953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4CBCCE-C2EA-676D-5F2F-807C9797F6EF}"/>
              </a:ext>
            </a:extLst>
          </p:cNvPr>
          <p:cNvSpPr/>
          <p:nvPr/>
        </p:nvSpPr>
        <p:spPr>
          <a:xfrm>
            <a:off x="1828800" y="29535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sales → high waste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70C8E4A-A77F-5253-C621-704A8954BCA7}"/>
              </a:ext>
            </a:extLst>
          </p:cNvPr>
          <p:cNvSpPr/>
          <p:nvPr/>
        </p:nvSpPr>
        <p:spPr>
          <a:xfrm>
            <a:off x="594360" y="3300984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Optimize stock replenishment cycles; prioritize high-velocity SKUs; reduce safety stock for slow movers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4284C7E-13D3-ABB8-A598-C2216284D5D5}"/>
              </a:ext>
            </a:extLst>
          </p:cNvPr>
          <p:cNvSpPr/>
          <p:nvPr/>
        </p:nvSpPr>
        <p:spPr>
          <a:xfrm>
            <a:off x="320040" y="3840480"/>
            <a:ext cx="8503920" cy="841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B50DC26-F701-F130-54E7-165775A33F03}"/>
              </a:ext>
            </a:extLst>
          </p:cNvPr>
          <p:cNvSpPr/>
          <p:nvPr/>
        </p:nvSpPr>
        <p:spPr>
          <a:xfrm>
            <a:off x="320040" y="3840480"/>
            <a:ext cx="64008" cy="841248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FBCC3C61-2907-179C-0892-BC7A5F8E908F}"/>
              </a:ext>
            </a:extLst>
          </p:cNvPr>
          <p:cNvSpPr/>
          <p:nvPr/>
        </p:nvSpPr>
        <p:spPr>
          <a:xfrm>
            <a:off x="1051560" y="3913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9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C9BD9CFA-1745-A3B4-07DC-A1940B0EA062}"/>
              </a:ext>
            </a:extLst>
          </p:cNvPr>
          <p:cNvSpPr/>
          <p:nvPr/>
        </p:nvSpPr>
        <p:spPr>
          <a:xfrm>
            <a:off x="1828800" y="39136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variation is large</a:t>
            </a:r>
            <a:endParaRPr lang="en-US" sz="11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187846A0-CDA4-58C4-D76A-25E7F5DABF82}"/>
              </a:ext>
            </a:extLst>
          </p:cNvPr>
          <p:cNvSpPr/>
          <p:nvPr/>
        </p:nvSpPr>
        <p:spPr>
          <a:xfrm>
            <a:off x="594360" y="4237189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category-specific waste thresholds (e.g. Pharma needs cold chain audit; Ready-to-Eat needs demand sensing)</a:t>
            </a:r>
            <a:endParaRPr lang="en-US" sz="12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E6485642-6674-7B3C-B12D-16516257AE29}"/>
              </a:ext>
            </a:extLst>
          </p:cNvPr>
          <p:cNvSpPr/>
          <p:nvPr/>
        </p:nvSpPr>
        <p:spPr>
          <a:xfrm>
            <a:off x="-1" y="4709160"/>
            <a:ext cx="9143999" cy="43434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559D26FA-2BBD-4E1A-D052-4DD2ADB793D8}"/>
              </a:ext>
            </a:extLst>
          </p:cNvPr>
          <p:cNvSpPr/>
          <p:nvPr/>
        </p:nvSpPr>
        <p:spPr>
          <a:xfrm>
            <a:off x="457200" y="479427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 Data-driven decisions can significantly reduce waste and improve profitability. 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8556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1171</Words>
  <Application>Microsoft Office PowerPoint</Application>
  <PresentationFormat>On-screen Show (16:9)</PresentationFormat>
  <Paragraphs>256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Product-Level Waste &amp; Profitability</dc:title>
  <dc:subject>PptxGenJS Presentation</dc:subject>
  <dc:creator>MBA Data Science &amp; AI</dc:creator>
  <cp:lastModifiedBy>Kartik Mankar</cp:lastModifiedBy>
  <cp:revision>5</cp:revision>
  <dcterms:created xsi:type="dcterms:W3CDTF">2026-05-03T06:29:19Z</dcterms:created>
  <dcterms:modified xsi:type="dcterms:W3CDTF">2026-05-27T12:17:52Z</dcterms:modified>
</cp:coreProperties>
</file>